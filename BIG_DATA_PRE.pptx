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Montserrat Black"/>
      <p:bold r:id="rId23"/>
      <p:boldItalic r:id="rId24"/>
    </p:embeddedFont>
    <p:embeddedFont>
      <p:font typeface="Montserrat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6F7A32-DCE9-4790-93D9-E195827B0B76}">
  <a:tblStyle styleId="{A36F7A32-DCE9-4790-93D9-E195827B0B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Black-boldItalic.fntdata"/><Relationship Id="rId23" Type="http://schemas.openxmlformats.org/officeDocument/2006/relationships/font" Target="fonts/Montserrat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ExtraBold-boldItalic.fntdata"/><Relationship Id="rId25" Type="http://schemas.openxmlformats.org/officeDocument/2006/relationships/font" Target="fonts/Montserrat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namit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Yize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f17401653_2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af17401653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Yize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eff63c84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eff63c84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Arsh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Charlotte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f1740165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f1740165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Yize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f1740165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f1740165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Charlotte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ea8a944d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ea8a944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namit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a8a944d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ea8a944d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namit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ea8a944d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ea8a944d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Charlotte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Arsh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arsh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8" name="Google Shape;2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1" name="Google Shape;31;p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38" name="Google Shape;38;p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42" name="Google Shape;4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48" name="Google Shape;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60" name="Google Shape;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4" name="Google Shape;64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1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8" name="Google Shape;6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4" name="Google Shape;74;p12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75" name="Google Shape;75;p12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1" name="Google Shape;81;p13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2" name="Google Shape;82;p13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5" name="Google Shape;8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-US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b="0" i="0" sz="4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07599" y="649110"/>
            <a:ext cx="6475586" cy="337299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5800">
                <a:latin typeface="Calibri"/>
                <a:ea typeface="Calibri"/>
                <a:cs typeface="Calibri"/>
                <a:sym typeface="Calibri"/>
              </a:rPr>
              <a:t>Scalable Big-Data Malware Traffic Analysis with Spark &amp; Kafka</a:t>
            </a:r>
            <a:endParaRPr b="1" sz="5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307600" y="4022100"/>
            <a:ext cx="81117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400">
                <a:latin typeface="Calibri"/>
                <a:ea typeface="Calibri"/>
                <a:cs typeface="Calibri"/>
                <a:sym typeface="Calibri"/>
              </a:rPr>
              <a:t>PRESENTED BY </a:t>
            </a:r>
            <a:r>
              <a:rPr b="1" lang="en-US" sz="1400">
                <a:latin typeface="Calibri"/>
                <a:ea typeface="Calibri"/>
                <a:cs typeface="Calibri"/>
                <a:sym typeface="Calibri"/>
              </a:rPr>
              <a:t>Arsh Panesar (ap9332), Charlotte Xiu (yx2867), Namit Surana (ns6518), Yize Liu (yl7401)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400"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06400" y="376800"/>
            <a:ext cx="51186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Dataset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06400" y="1005000"/>
            <a:ext cx="7916100" cy="39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CTU-IoT-Malware-Capture Dataset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(12 files · 3.2GB total)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Development File: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CTU-IoT-Malware-Capture-3 (23MB → 156,103 records)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Labeling</a:t>
            </a:r>
            <a:endParaRPr b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label: </a:t>
            </a: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Malicious / Benign</a:t>
            </a:r>
            <a:endParaRPr b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detailed-label: attack type (PortScan, C&amp;C, etc.)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Imbalance Summary</a:t>
            </a:r>
            <a:endParaRPr b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Malicious: </a:t>
            </a: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151,567</a:t>
            </a:r>
            <a:endParaRPr b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Benign: </a:t>
            </a: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4,536</a:t>
            </a:r>
            <a:endParaRPr b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Dominant attack: </a:t>
            </a: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Horizontal Port Scan (145,597 flows)</a:t>
            </a:r>
            <a:endParaRPr b="1"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Domains</a:t>
            </a: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(23 columns)</a:t>
            </a:r>
            <a:b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Protocol, connection state, ports, bytes, duration, timestamps, etc.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406400" y="376800"/>
            <a:ext cx="83544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Dataset Overview(Cont. 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06400" y="1005000"/>
            <a:ext cx="7916100" cy="39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lphaLcPeriod"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Modern systems generate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 volumes of network traffic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lphaLcPeriod"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Malicious packets are mixed with benign flows and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 to spot at scale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lphaLcPeriod"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teams need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fast, scalable tools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understand attack patterns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Hundreds of packets per second per machine →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tens of millions of records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a single data center produces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“big data” network logs</a:t>
            </a:r>
            <a:endParaRPr b="1"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lphaLcPeriod"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+ distributed processing are 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necessary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not optional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 Link: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https://www.kaggle.com/datasets/agungpambudi/network-malware-detection-connection-analysis</a:t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90144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Technologies &amp; Infrastructure</a:t>
            </a:r>
            <a:endParaRPr sz="3600"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125" y="-156675"/>
            <a:ext cx="4855449" cy="585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106775" y="1431825"/>
            <a:ext cx="4397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Setup</a:t>
            </a:r>
            <a:endParaRPr b="1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b="1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7 Docker Containers</a:t>
            </a:r>
            <a:r>
              <a:rPr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running  concurrently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b="1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Dual listener Kafka </a:t>
            </a:r>
            <a:r>
              <a:rPr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architecture (internal/external) 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b="1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Spark Master/Worker</a:t>
            </a:r>
            <a:r>
              <a:rPr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cluster setup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Char char="●"/>
            </a:pPr>
            <a:r>
              <a:rPr b="1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Volume mapping</a:t>
            </a:r>
            <a:r>
              <a:rPr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for data persistence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99750" y="204675"/>
            <a:ext cx="74628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Data Pipeline &amp; Processing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4050" y="436325"/>
            <a:ext cx="9144000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4294967295" type="title"/>
          </p:nvPr>
        </p:nvSpPr>
        <p:spPr>
          <a:xfrm>
            <a:off x="311700" y="445025"/>
            <a:ext cx="90144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Big Data Operations</a:t>
            </a:r>
            <a:endParaRPr sz="3600"/>
          </a:p>
        </p:txBody>
      </p:sp>
      <p:sp>
        <p:nvSpPr>
          <p:cNvPr id="124" name="Google Shape;124;p21"/>
          <p:cNvSpPr txBox="1"/>
          <p:nvPr>
            <p:ph idx="4294967295" type="body"/>
          </p:nvPr>
        </p:nvSpPr>
        <p:spPr>
          <a:xfrm>
            <a:off x="406400" y="1129325"/>
            <a:ext cx="7916100" cy="3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read large CSV datasets, serializes them into JSON, and streams them to a Kafka topic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 Structured Streaming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consume micro-batches in real-time, enforcing strict schemas and handling windowed aggregations.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 the sink for processed streams, storing unstructured prediction results and metadata for the dashboard.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 ML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perform distributed data cleaning, categorical encoding (StringIndexer/OneHotEncoder), and numerical scaling across the cluster, training our model.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 ML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load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pre-trained model into the streaming pipeline to make predictions in real time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26400"/>
            <a:ext cx="61299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Model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646225"/>
            <a:ext cx="8357700" cy="24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Model Tested: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Gradient Boosted Trees (best)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Training Process: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Load </a:t>
            </a: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156K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 records from Kafka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Feature engineering pipeline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Train/ test split (80/20)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AutoNum type="arabicPeriod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Model training with cross-validation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22"/>
          <p:cNvGraphicFramePr/>
          <p:nvPr/>
        </p:nvGraphicFramePr>
        <p:xfrm>
          <a:off x="4992775" y="148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{A36F7A32-DCE9-4790-93D9-E195827B0B76}</a:tableStyleId>
              </a:tblPr>
              <a:tblGrid>
                <a:gridCol w="1169900"/>
                <a:gridCol w="1169900"/>
                <a:gridCol w="1169900"/>
              </a:tblGrid>
              <a:tr h="2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9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0.99939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0.99939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9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Boosted Trees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0.99994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0.99994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" name="Google Shape;132;p22"/>
          <p:cNvSpPr txBox="1"/>
          <p:nvPr/>
        </p:nvSpPr>
        <p:spPr>
          <a:xfrm>
            <a:off x="4912050" y="3135925"/>
            <a:ext cx="3000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Key Features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(Importance): 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bytes_per_sec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/ 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total_bytes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/ 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conn_state_encoded/ duration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/ </a:t>
            </a:r>
            <a:r>
              <a:rPr lang="en-U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proto_encoded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289100" y="295125"/>
            <a:ext cx="7782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Real-Time Dashboard Features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775" y="295125"/>
            <a:ext cx="7207726" cy="4663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26400"/>
            <a:ext cx="48882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&amp; Insights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675" y="1161175"/>
            <a:ext cx="6668477" cy="373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232725" y="29512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&amp; Optimization</a:t>
            </a:r>
            <a:endParaRPr/>
          </a:p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4939500" y="724075"/>
            <a:ext cx="3955800" cy="3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Load Test (Batch Mode):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Full </a:t>
            </a: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1.3 GB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 capture (</a:t>
            </a: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10.45M rows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) processed in ~8.9s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Predictions consistent with dataset skew (</a:t>
            </a: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~10.38M 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Malicious, </a:t>
            </a: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~72.5k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 Benign)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Key Tuning Knobs: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i="1" lang="en-US" sz="1500">
                <a:latin typeface="Calibri"/>
                <a:ea typeface="Calibri"/>
                <a:cs typeface="Calibri"/>
                <a:sym typeface="Calibri"/>
              </a:rPr>
              <a:t>maxOffsetsPerTrigger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, trigger interval, Kafka partitions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Spark memory + shuffle settings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Backpressure + 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checkpointing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 enabled for recovery 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Pipeline achieves low-latency streaming with substantial capacity for higher ingest rates; validated end-to-end on the largest dataset.</a:t>
            </a:r>
            <a:endParaRPr b="1" sz="15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294375" y="1915450"/>
            <a:ext cx="3955800" cy="21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Performance (Streaming):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5k record micro-batch processed in </a:t>
            </a:r>
            <a:r>
              <a:rPr b="1" lang="en-US" sz="1700"/>
              <a:t>0.1-0.22s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Effective processing capacity </a:t>
            </a:r>
            <a:r>
              <a:rPr b="1" lang="en-US" sz="1700"/>
              <a:t>~25k rows/sec</a:t>
            </a:r>
            <a:endParaRPr b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Ingest capped at </a:t>
            </a:r>
            <a:r>
              <a:rPr b="1" lang="en-US" sz="1700"/>
              <a:t>~2.5k rows/sec</a:t>
            </a:r>
            <a:r>
              <a:rPr lang="en-US" sz="1700"/>
              <a:t> by rate limit → </a:t>
            </a:r>
            <a:r>
              <a:rPr b="1" lang="en-US" sz="1700"/>
              <a:t>Spark has headroom</a:t>
            </a:r>
            <a:endParaRPr b="1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232550" y="433725"/>
            <a:ext cx="60075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Future</a:t>
            </a:r>
            <a:r>
              <a:rPr lang="en-US"/>
              <a:t> Work</a:t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6600" y="100750"/>
            <a:ext cx="9077350" cy="494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1009686" y="1684594"/>
            <a:ext cx="6947400" cy="31451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7200">
                <a:latin typeface="Calibri"/>
                <a:ea typeface="Calibri"/>
                <a:cs typeface="Calibri"/>
                <a:sym typeface="Calibri"/>
              </a:rPr>
              <a:t>THANKS!</a:t>
            </a:r>
            <a:br>
              <a:rPr b="1" lang="en-US" sz="7200">
                <a:latin typeface="Calibri"/>
                <a:ea typeface="Calibri"/>
                <a:cs typeface="Calibri"/>
                <a:sym typeface="Calibri"/>
              </a:rPr>
            </a:br>
            <a:br>
              <a:rPr lang="en-US"/>
            </a:br>
            <a:r>
              <a:rPr lang="en-US"/>
              <a:t>Q&amp;A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